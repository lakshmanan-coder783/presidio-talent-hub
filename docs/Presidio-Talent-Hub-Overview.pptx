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97" r:id="rId2"/>
    <p:sldId id="298" r:id="rId3"/>
    <p:sldId id="299" r:id="rId4"/>
    <p:sldId id="300" r:id="rId5"/>
    <p:sldId id="301" r:id="rId6"/>
    <p:sldId id="302" r:id="rId7"/>
    <p:sldId id="305" r:id="rId8"/>
    <p:sldId id="304" r:id="rId9"/>
    <p:sldId id="306" r:id="rId10"/>
    <p:sldId id="307" r:id="rId11"/>
    <p:sldId id="308" r:id="rId12"/>
    <p:sldId id="309" r:id="rId13"/>
    <p:sldId id="290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880"/>
    <p:restoredTop sz="94643"/>
  </p:normalViewPr>
  <p:slideViewPr>
    <p:cSldViewPr snapToGrid="0" snapToObjects="1">
      <p:cViewPr varScale="1">
        <p:scale>
          <a:sx n="120" d="100"/>
          <a:sy n="120" d="100"/>
        </p:scale>
        <p:origin x="192" y="102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447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4206240"/>
            <a:ext cx="12191695" cy="38100"/>
          </a:xfrm>
          <a:prstGeom prst="rect">
            <a:avLst/>
          </a:prstGeom>
          <a:solidFill>
            <a:srgbClr val="05AB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 dirty="0">
                <a:solidFill>
                  <a:srgbClr val="05ABEF"/>
                </a:solidFill>
                <a:latin typeface="Arial"/>
              </a:rPr>
              <a:t>PRESIDIO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28600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 i="0" dirty="0">
                <a:solidFill>
                  <a:srgbClr val="FFFFFF"/>
                </a:solidFill>
                <a:latin typeface="Arial"/>
              </a:rPr>
              <a:t>Presidio Talent Hub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4290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 dirty="0">
                <a:solidFill>
                  <a:srgbClr val="05ABEF"/>
                </a:solidFill>
                <a:latin typeface="Arial"/>
              </a:rPr>
              <a:t>Campus Recruitment &amp; Assessment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5720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9D6F2"/>
                </a:solidFill>
                <a:latin typeface="Arial"/>
              </a:rPr>
              <a:t>Product &amp; Technical Overview  ·  Talent Acquisition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16062"/>
                </a:solidFill>
                <a:latin typeface="Arial"/>
              </a:rPr>
              <a:t>Presidio Talent Hub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51967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16062"/>
                </a:solidFill>
                <a:latin typeface="Arial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1991570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44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05AB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5120640" cy="24870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600"/>
              </a:spcAft>
            </a:pPr>
            <a:r>
              <a:rPr sz="1800" dirty="0">
                <a:solidFill>
                  <a:srgbClr val="000000"/>
                </a:solidFill>
                <a:latin typeface="Arial"/>
              </a:rPr>
              <a:t>•  How It Works Today: WeCP + Excel</a:t>
            </a:r>
          </a:p>
          <a:p>
            <a:pPr>
              <a:lnSpc>
                <a:spcPct val="115000"/>
              </a:lnSpc>
              <a:spcAft>
                <a:spcPts val="1600"/>
              </a:spcAft>
            </a:pPr>
            <a:r>
              <a:rPr sz="1800" dirty="0">
                <a:solidFill>
                  <a:srgbClr val="000000"/>
                </a:solidFill>
                <a:latin typeface="Arial"/>
              </a:rPr>
              <a:t>•  Where It Breaks: The Coding Round</a:t>
            </a:r>
          </a:p>
          <a:p>
            <a:pPr>
              <a:lnSpc>
                <a:spcPct val="115000"/>
              </a:lnSpc>
              <a:spcAft>
                <a:spcPts val="1600"/>
              </a:spcAft>
            </a:pPr>
            <a:r>
              <a:rPr sz="1800" dirty="0">
                <a:solidFill>
                  <a:srgbClr val="000000"/>
                </a:solidFill>
                <a:latin typeface="Arial"/>
              </a:rPr>
              <a:t>•  One Application, End to End</a:t>
            </a:r>
          </a:p>
          <a:p>
            <a:pPr>
              <a:lnSpc>
                <a:spcPct val="115000"/>
              </a:lnSpc>
              <a:spcAft>
                <a:spcPts val="1600"/>
              </a:spcAft>
            </a:pPr>
            <a:r>
              <a:rPr sz="1800" dirty="0">
                <a:solidFill>
                  <a:srgbClr val="000000"/>
                </a:solidFill>
                <a:latin typeface="Arial"/>
              </a:rPr>
              <a:t>•  Before &amp; After: Two Systems to One</a:t>
            </a:r>
          </a:p>
          <a:p>
            <a:pPr>
              <a:lnSpc>
                <a:spcPct val="115000"/>
              </a:lnSpc>
              <a:spcAft>
                <a:spcPts val="1600"/>
              </a:spcAft>
            </a:pPr>
            <a:r>
              <a:rPr sz="1800" dirty="0">
                <a:solidFill>
                  <a:srgbClr val="000000"/>
                </a:solidFill>
                <a:latin typeface="Arial"/>
              </a:rPr>
              <a:t>•  One Hiring Funnel &amp; One Set of Roles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1463040"/>
            <a:ext cx="5120640" cy="24870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600"/>
              </a:spcAft>
            </a:pPr>
            <a:r>
              <a:rPr sz="1800" dirty="0">
                <a:solidFill>
                  <a:srgbClr val="000000"/>
                </a:solidFill>
                <a:latin typeface="Arial"/>
              </a:rPr>
              <a:t>•  Core Modules Walkthrough</a:t>
            </a:r>
          </a:p>
          <a:p>
            <a:pPr>
              <a:lnSpc>
                <a:spcPct val="115000"/>
              </a:lnSpc>
              <a:spcAft>
                <a:spcPts val="1600"/>
              </a:spcAft>
            </a:pPr>
            <a:r>
              <a:rPr sz="1800" dirty="0">
                <a:solidFill>
                  <a:srgbClr val="000000"/>
                </a:solidFill>
                <a:latin typeface="Arial"/>
              </a:rPr>
              <a:t>•  Executive Dashboard &amp; Analytics</a:t>
            </a:r>
          </a:p>
          <a:p>
            <a:pPr>
              <a:lnSpc>
                <a:spcPct val="115000"/>
              </a:lnSpc>
              <a:spcAft>
                <a:spcPts val="1600"/>
              </a:spcAft>
            </a:pPr>
            <a:r>
              <a:rPr sz="1800" dirty="0">
                <a:solidFill>
                  <a:srgbClr val="000000"/>
                </a:solidFill>
                <a:latin typeface="Arial"/>
              </a:rPr>
              <a:t>•  Roles, Access &amp; Data Handling</a:t>
            </a:r>
          </a:p>
          <a:p>
            <a:pPr>
              <a:lnSpc>
                <a:spcPct val="115000"/>
              </a:lnSpc>
              <a:spcAft>
                <a:spcPts val="1600"/>
              </a:spcAft>
            </a:pPr>
            <a:r>
              <a:rPr sz="1800" dirty="0">
                <a:solidFill>
                  <a:srgbClr val="000000"/>
                </a:solidFill>
                <a:latin typeface="Arial"/>
              </a:rPr>
              <a:t>•  Architecture &amp; Tech Stack</a:t>
            </a:r>
          </a:p>
          <a:p>
            <a:pPr>
              <a:lnSpc>
                <a:spcPct val="115000"/>
              </a:lnSpc>
              <a:spcAft>
                <a:spcPts val="1600"/>
              </a:spcAft>
            </a:pPr>
            <a:r>
              <a:rPr sz="1800" dirty="0">
                <a:solidFill>
                  <a:srgbClr val="000000"/>
                </a:solidFill>
                <a:latin typeface="Arial"/>
              </a:rPr>
              <a:t>•  Engineering Highlight &amp; What's Next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16062"/>
                </a:solidFill>
                <a:latin typeface="Arial"/>
              </a:rPr>
              <a:t>Presidio Talent Hub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51967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16062"/>
                </a:solidFill>
                <a:latin typeface="Arial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9772543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44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05AB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5ABEF"/>
                </a:solidFill>
                <a:latin typeface="Arial"/>
              </a:rPr>
              <a:t>HOW IT WORKS TODAY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0515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Two Systems, One Hiring Process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105156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0000"/>
                </a:solidFill>
                <a:latin typeface="Arial"/>
              </a:rPr>
              <a:t>The online test lives in WeCP. Everything else lives in Excel.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286000"/>
            <a:ext cx="10058400" cy="32414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2900"/>
              </a:spcAft>
            </a:pPr>
            <a:r>
              <a:rPr sz="1900" dirty="0">
                <a:solidFill>
                  <a:srgbClr val="000000"/>
                </a:solidFill>
                <a:latin typeface="Arial"/>
              </a:rPr>
              <a:t>•  WeCP (external)  —  online test delivered and scored outside our stack</a:t>
            </a:r>
          </a:p>
          <a:p>
            <a:pPr>
              <a:lnSpc>
                <a:spcPct val="115000"/>
              </a:lnSpc>
              <a:spcAft>
                <a:spcPts val="2900"/>
              </a:spcAft>
            </a:pPr>
            <a:r>
              <a:rPr sz="1900" dirty="0">
                <a:solidFill>
                  <a:srgbClr val="000000"/>
                </a:solidFill>
                <a:latin typeface="Arial"/>
              </a:rPr>
              <a:t>•  Excel  —  student rosters kept per college, one sheet at a time</a:t>
            </a:r>
          </a:p>
          <a:p>
            <a:pPr>
              <a:lnSpc>
                <a:spcPct val="115000"/>
              </a:lnSpc>
              <a:spcAft>
                <a:spcPts val="2900"/>
              </a:spcAft>
            </a:pPr>
            <a:r>
              <a:rPr sz="1900" dirty="0">
                <a:solidFill>
                  <a:srgbClr val="000000"/>
                </a:solidFill>
                <a:latin typeface="Arial"/>
              </a:rPr>
              <a:t>•  Excel  —  interview, coding and whiteboard feedback typed in by panels</a:t>
            </a:r>
          </a:p>
          <a:p>
            <a:pPr>
              <a:lnSpc>
                <a:spcPct val="115000"/>
              </a:lnSpc>
              <a:spcAft>
                <a:spcPts val="2900"/>
              </a:spcAft>
            </a:pPr>
            <a:r>
              <a:rPr sz="1900" dirty="0">
                <a:solidFill>
                  <a:srgbClr val="000000"/>
                </a:solidFill>
                <a:latin typeface="Arial"/>
              </a:rPr>
              <a:t>•  Excel  —  offer and joining status tracked in the same workbooks</a:t>
            </a:r>
          </a:p>
          <a:p>
            <a:pPr>
              <a:lnSpc>
                <a:spcPct val="115000"/>
              </a:lnSpc>
              <a:spcAft>
                <a:spcPts val="2900"/>
              </a:spcAft>
            </a:pPr>
            <a:r>
              <a:rPr sz="1900" dirty="0">
                <a:solidFill>
                  <a:srgbClr val="000000"/>
                </a:solidFill>
                <a:latin typeface="Arial"/>
              </a:rPr>
              <a:t>•  Nothing links the two; WeCP results are re-keyed into Excel by hand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16062"/>
                </a:solidFill>
                <a:latin typeface="Arial"/>
              </a:rPr>
              <a:t>Presidio Talent Hub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51967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16062"/>
                </a:solidFill>
                <a:latin typeface="Arial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2958035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44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05AB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5ABEF"/>
                </a:solidFill>
                <a:latin typeface="Arial"/>
              </a:rPr>
              <a:t>WHERE IT BREAKS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0515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The Coding Round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105156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0000"/>
                </a:solidFill>
                <a:latin typeface="Arial"/>
              </a:rPr>
              <a:t>A spreadsheet can ask for panel feedback. It cannot require 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331720"/>
            <a:ext cx="10058400" cy="32414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2900"/>
              </a:spcAft>
            </a:pPr>
            <a:r>
              <a:rPr sz="1900" b="1">
                <a:solidFill>
                  <a:srgbClr val="000000"/>
                </a:solidFill>
                <a:latin typeface="Arial"/>
              </a:rPr>
              <a:t>Feedback goes missing</a:t>
            </a:r>
            <a:r>
              <a:rPr sz="1900" b="0">
                <a:solidFill>
                  <a:srgbClr val="616062"/>
                </a:solidFill>
                <a:latin typeface="Arial"/>
              </a:rPr>
              <a:t>  —  many panel members never fill in the sheet</a:t>
            </a:r>
          </a:p>
          <a:p>
            <a:pPr>
              <a:lnSpc>
                <a:spcPct val="115000"/>
              </a:lnSpc>
              <a:spcAft>
                <a:spcPts val="2900"/>
              </a:spcAft>
            </a:pPr>
            <a:r>
              <a:rPr sz="1900" b="1">
                <a:solidFill>
                  <a:srgbClr val="000000"/>
                </a:solidFill>
                <a:latin typeface="Arial"/>
              </a:rPr>
              <a:t>Candidates advance anyway</a:t>
            </a:r>
            <a:r>
              <a:rPr sz="1900" b="0">
                <a:solidFill>
                  <a:srgbClr val="616062"/>
                </a:solidFill>
                <a:latin typeface="Arial"/>
              </a:rPr>
              <a:t>  —  a blank score cell blocks nothing</a:t>
            </a:r>
          </a:p>
          <a:p>
            <a:pPr>
              <a:lnSpc>
                <a:spcPct val="115000"/>
              </a:lnSpc>
              <a:spcAft>
                <a:spcPts val="2900"/>
              </a:spcAft>
            </a:pPr>
            <a:r>
              <a:rPr sz="1900" b="1">
                <a:solidFill>
                  <a:srgbClr val="000000"/>
                </a:solidFill>
                <a:latin typeface="Arial"/>
              </a:rPr>
              <a:t>No audit trail</a:t>
            </a:r>
            <a:r>
              <a:rPr sz="1900" b="0">
                <a:solidFill>
                  <a:srgbClr val="616062"/>
                </a:solidFill>
                <a:latin typeface="Arial"/>
              </a:rPr>
              <a:t>  —  no record of who evaluated whom, or when</a:t>
            </a:r>
          </a:p>
          <a:p>
            <a:pPr>
              <a:lnSpc>
                <a:spcPct val="115000"/>
              </a:lnSpc>
              <a:spcAft>
                <a:spcPts val="2900"/>
              </a:spcAft>
            </a:pPr>
            <a:r>
              <a:rPr sz="1900" b="1">
                <a:solidFill>
                  <a:srgbClr val="000000"/>
                </a:solidFill>
                <a:latin typeface="Arial"/>
              </a:rPr>
              <a:t>Scores aren't comparable</a:t>
            </a:r>
            <a:r>
              <a:rPr sz="1900" b="0">
                <a:solidFill>
                  <a:srgbClr val="616062"/>
                </a:solidFill>
                <a:latin typeface="Arial"/>
              </a:rPr>
              <a:t>  —  free-text ratings vary panel to panel</a:t>
            </a:r>
          </a:p>
          <a:p>
            <a:pPr>
              <a:lnSpc>
                <a:spcPct val="115000"/>
              </a:lnSpc>
              <a:spcAft>
                <a:spcPts val="2900"/>
              </a:spcAft>
            </a:pPr>
            <a:r>
              <a:rPr sz="1900" b="1">
                <a:solidFill>
                  <a:srgbClr val="000000"/>
                </a:solidFill>
                <a:latin typeface="Arial"/>
              </a:rPr>
              <a:t>Manual reconciliation</a:t>
            </a:r>
            <a:r>
              <a:rPr sz="1900" b="0">
                <a:solidFill>
                  <a:srgbClr val="616062"/>
                </a:solidFill>
                <a:latin typeface="Arial"/>
              </a:rPr>
              <a:t>  —  WeCP results re-keyed into Excel before review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16062"/>
                </a:solidFill>
                <a:latin typeface="Arial"/>
              </a:rPr>
              <a:t>Presidio Talent Hub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51967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16062"/>
                </a:solidFill>
                <a:latin typeface="Arial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5069330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44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05AB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5ABEF"/>
                </a:solidFill>
                <a:latin typeface="Arial"/>
              </a:rPr>
              <a:t>THE ANSWER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0515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One Application, End to 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105156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0000"/>
                </a:solidFill>
                <a:latin typeface="Arial"/>
              </a:rPr>
              <a:t>One system from drive setup to joining. No hand-off, no workbooks.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331720"/>
            <a:ext cx="10058400" cy="32414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2900"/>
              </a:spcAft>
            </a:pPr>
            <a:r>
              <a:rPr sz="1900" b="1">
                <a:solidFill>
                  <a:srgbClr val="000000"/>
                </a:solidFill>
                <a:latin typeface="Arial"/>
              </a:rPr>
              <a:t>Campus drives</a:t>
            </a:r>
            <a:r>
              <a:rPr sz="1900" b="0">
                <a:solidFill>
                  <a:srgbClr val="616062"/>
                </a:solidFill>
                <a:latin typeface="Arial"/>
              </a:rPr>
              <a:t>  —  created and configured per college and per role</a:t>
            </a:r>
          </a:p>
          <a:p>
            <a:pPr>
              <a:lnSpc>
                <a:spcPct val="115000"/>
              </a:lnSpc>
              <a:spcAft>
                <a:spcPts val="2900"/>
              </a:spcAft>
            </a:pPr>
            <a:r>
              <a:rPr sz="1900" b="1">
                <a:solidFill>
                  <a:srgbClr val="000000"/>
                </a:solidFill>
                <a:latin typeface="Arial"/>
              </a:rPr>
              <a:t>Shared question bank</a:t>
            </a:r>
            <a:r>
              <a:rPr sz="1900" b="0">
                <a:solidFill>
                  <a:srgbClr val="616062"/>
                </a:solidFill>
                <a:latin typeface="Arial"/>
              </a:rPr>
              <a:t>  —  every assessment assembled from one tagged pool</a:t>
            </a:r>
          </a:p>
          <a:p>
            <a:pPr>
              <a:lnSpc>
                <a:spcPct val="115000"/>
              </a:lnSpc>
              <a:spcAft>
                <a:spcPts val="2900"/>
              </a:spcAft>
            </a:pPr>
            <a:r>
              <a:rPr sz="1900" b="1">
                <a:solidFill>
                  <a:srgbClr val="000000"/>
                </a:solidFill>
                <a:latin typeface="Arial"/>
              </a:rPr>
              <a:t>Assessments in-platform</a:t>
            </a:r>
            <a:r>
              <a:rPr sz="1900" b="0">
                <a:solidFill>
                  <a:srgbClr val="616062"/>
                </a:solidFill>
                <a:latin typeface="Arial"/>
              </a:rPr>
              <a:t>  —  replaces WeCP, with proctoring built in</a:t>
            </a:r>
          </a:p>
          <a:p>
            <a:pPr>
              <a:lnSpc>
                <a:spcPct val="115000"/>
              </a:lnSpc>
              <a:spcAft>
                <a:spcPts val="2900"/>
              </a:spcAft>
            </a:pPr>
            <a:r>
              <a:rPr sz="1900" b="1">
                <a:solidFill>
                  <a:srgbClr val="000000"/>
                </a:solidFill>
                <a:latin typeface="Arial"/>
              </a:rPr>
              <a:t>Required panel scoring</a:t>
            </a:r>
            <a:r>
              <a:rPr sz="1900" b="0">
                <a:solidFill>
                  <a:srgbClr val="616062"/>
                </a:solidFill>
                <a:latin typeface="Arial"/>
              </a:rPr>
              <a:t>  —  structured criteria captured at every round</a:t>
            </a:r>
          </a:p>
          <a:p>
            <a:pPr>
              <a:lnSpc>
                <a:spcPct val="115000"/>
              </a:lnSpc>
              <a:spcAft>
                <a:spcPts val="2900"/>
              </a:spcAft>
            </a:pPr>
            <a:r>
              <a:rPr sz="1900" b="1">
                <a:solidFill>
                  <a:srgbClr val="000000"/>
                </a:solidFill>
                <a:latin typeface="Arial"/>
              </a:rPr>
              <a:t>Offers &amp; reporting</a:t>
            </a:r>
            <a:r>
              <a:rPr sz="1900" b="0">
                <a:solidFill>
                  <a:srgbClr val="616062"/>
                </a:solidFill>
                <a:latin typeface="Arial"/>
              </a:rPr>
              <a:t>  —  live status, nothing to reconcile by hand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16062"/>
                </a:solidFill>
                <a:latin typeface="Arial"/>
              </a:rPr>
              <a:t>Presidio Talent Hub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519672"/>
            <a:ext cx="9144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16062"/>
                </a:solidFill>
                <a:latin typeface="Arial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860135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44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05AB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5ABEF"/>
                </a:solidFill>
                <a:latin typeface="Arial"/>
              </a:rPr>
              <a:t>CONSOLIDATION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0515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From Two Systems to 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16062"/>
                </a:solidFill>
                <a:latin typeface="Arial"/>
              </a:rPr>
              <a:t>Presidio Talent Hub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519672"/>
            <a:ext cx="9144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16062"/>
                </a:solidFill>
                <a:latin typeface="Arial"/>
              </a:rPr>
              <a:t>6</a:t>
            </a:r>
          </a:p>
        </p:txBody>
      </p:sp>
      <p:sp>
        <p:nvSpPr>
          <p:cNvPr id="30" name="Compare 30"/>
          <p:cNvSpPr/>
          <p:nvPr/>
        </p:nvSpPr>
        <p:spPr>
          <a:xfrm>
            <a:off x="736600" y="1371600"/>
            <a:ext cx="4826000" cy="330200"/>
          </a:xfrm>
          <a:prstGeom prst="rect">
            <a:avLst/>
          </a:prstGeom>
          <a:noFill/>
          <a:ln>
            <a:noFill/>
          </a:ln>
        </p:spPr>
        <p:txBody>
          <a:bodyPr wrap="square" lIns="152400" tIns="114300" rIns="152400" bIns="114300" anchor="t"/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1" i="0">
                <a:solidFill>
                  <a:srgbClr val="616062"/>
                </a:solidFill>
                <a:latin typeface="Arial"/>
              </a:rPr>
              <a:t>BEFORE  —  two disconnected systems</a:t>
            </a:r>
          </a:p>
        </p:txBody>
      </p:sp>
      <p:sp>
        <p:nvSpPr>
          <p:cNvPr id="31" name="Compare 31"/>
          <p:cNvSpPr/>
          <p:nvPr/>
        </p:nvSpPr>
        <p:spPr>
          <a:xfrm>
            <a:off x="6629400" y="1371600"/>
            <a:ext cx="4826000" cy="330200"/>
          </a:xfrm>
          <a:prstGeom prst="rect">
            <a:avLst/>
          </a:prstGeom>
          <a:noFill/>
          <a:ln>
            <a:noFill/>
          </a:ln>
        </p:spPr>
        <p:txBody>
          <a:bodyPr wrap="square" lIns="152400" tIns="114300" rIns="152400" bIns="114300" anchor="t"/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1" i="0">
                <a:solidFill>
                  <a:srgbClr val="00447A"/>
                </a:solidFill>
                <a:latin typeface="Arial"/>
              </a:rPr>
              <a:t>AFTER  —  one application</a:t>
            </a:r>
          </a:p>
        </p:txBody>
      </p:sp>
      <p:sp>
        <p:nvSpPr>
          <p:cNvPr id="32" name="Compare 32"/>
          <p:cNvSpPr/>
          <p:nvPr/>
        </p:nvSpPr>
        <p:spPr>
          <a:xfrm>
            <a:off x="736600" y="1778000"/>
            <a:ext cx="4826000" cy="16510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5D9E0"/>
            </a:solidFill>
          </a:ln>
        </p:spPr>
        <p:txBody>
          <a:bodyPr wrap="square" lIns="152400" tIns="114300" rIns="152400" bIns="114300" anchor="t"/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800" b="1" i="0">
                <a:solidFill>
                  <a:srgbClr val="000000"/>
                </a:solidFill>
                <a:latin typeface="Arial"/>
              </a:rPr>
              <a:t>WeCP  (external)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0" i="0">
                <a:solidFill>
                  <a:srgbClr val="616062"/>
                </a:solidFill>
                <a:latin typeface="Arial"/>
              </a:rPr>
              <a:t>Online test authored, delivered and scored outside our stack.</a:t>
            </a:r>
          </a:p>
        </p:txBody>
      </p:sp>
      <p:sp>
        <p:nvSpPr>
          <p:cNvPr id="33" name="Compare 33"/>
          <p:cNvSpPr/>
          <p:nvPr/>
        </p:nvSpPr>
        <p:spPr>
          <a:xfrm>
            <a:off x="736600" y="3657600"/>
            <a:ext cx="4826000" cy="22606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5D9E0"/>
            </a:solidFill>
          </a:ln>
        </p:spPr>
        <p:txBody>
          <a:bodyPr wrap="square" lIns="152400" tIns="114300" rIns="152400" bIns="114300" anchor="t"/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800" b="1" i="0">
                <a:solidFill>
                  <a:srgbClr val="000000"/>
                </a:solidFill>
                <a:latin typeface="Arial"/>
              </a:rPr>
              <a:t>Excel workbooks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500" b="0" i="0">
                <a:solidFill>
                  <a:srgbClr val="616062"/>
                </a:solidFill>
                <a:latin typeface="Arial"/>
              </a:rPr>
              <a:t>Rosters, interview scores, coding feedback, offers and joining — one sheet per college, updated by hand.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1" i="0">
                <a:solidFill>
                  <a:srgbClr val="C0450B"/>
                </a:solidFill>
                <a:latin typeface="Arial"/>
              </a:rPr>
              <a:t>Panel feedback optional in practice.</a:t>
            </a:r>
          </a:p>
        </p:txBody>
      </p:sp>
      <p:sp>
        <p:nvSpPr>
          <p:cNvPr id="34" name="Compare 34"/>
          <p:cNvSpPr/>
          <p:nvPr/>
        </p:nvSpPr>
        <p:spPr>
          <a:xfrm>
            <a:off x="5740400" y="3581400"/>
            <a:ext cx="711200" cy="533400"/>
          </a:xfrm>
          <a:prstGeom prst="rightArrow">
            <a:avLst/>
          </a:prstGeom>
          <a:solidFill>
            <a:srgbClr val="05ABEF"/>
          </a:solidFill>
          <a:ln>
            <a:noFill/>
          </a:ln>
        </p:spPr>
        <p:txBody>
          <a:bodyPr wrap="square" lIns="152400" tIns="114300" rIns="152400" bIns="114300" anchor="t"/>
          <a:lstStyle/>
          <a:p>
            <a:endParaRPr sz="1400"/>
          </a:p>
        </p:txBody>
      </p:sp>
      <p:sp>
        <p:nvSpPr>
          <p:cNvPr id="35" name="Compare 35"/>
          <p:cNvSpPr/>
          <p:nvPr/>
        </p:nvSpPr>
        <p:spPr>
          <a:xfrm>
            <a:off x="6629400" y="1778000"/>
            <a:ext cx="4826000" cy="4140200"/>
          </a:xfrm>
          <a:prstGeom prst="roundRect">
            <a:avLst/>
          </a:prstGeom>
          <a:solidFill>
            <a:srgbClr val="00447A"/>
          </a:solidFill>
          <a:ln>
            <a:noFill/>
          </a:ln>
        </p:spPr>
        <p:txBody>
          <a:bodyPr wrap="square" lIns="152400" tIns="114300" rIns="152400" bIns="114300" anchor="t"/>
          <a:lstStyle/>
          <a:p>
            <a:pPr algn="l">
              <a:lnSpc>
                <a:spcPct val="112000"/>
              </a:lnSpc>
              <a:spcAft>
                <a:spcPts val="1400"/>
              </a:spcAft>
            </a:pPr>
            <a:r>
              <a:rPr sz="2000" b="1" i="0">
                <a:solidFill>
                  <a:srgbClr val="FFFFFF"/>
                </a:solidFill>
                <a:latin typeface="Arial"/>
              </a:rPr>
              <a:t>Presidio Talent Hub</a:t>
            </a:r>
          </a:p>
          <a:p>
            <a:pPr algn="l">
              <a:lnSpc>
                <a:spcPct val="112000"/>
              </a:lnSpc>
              <a:spcAft>
                <a:spcPts val="1200"/>
              </a:spcAft>
            </a:pPr>
            <a:r>
              <a:rPr sz="1500" b="0" i="0">
                <a:solidFill>
                  <a:srgbClr val="E6F3FA"/>
                </a:solidFill>
                <a:latin typeface="Arial"/>
              </a:rPr>
              <a:t>•  Drive setup, per college and role</a:t>
            </a:r>
          </a:p>
          <a:p>
            <a:pPr algn="l">
              <a:lnSpc>
                <a:spcPct val="112000"/>
              </a:lnSpc>
              <a:spcAft>
                <a:spcPts val="1200"/>
              </a:spcAft>
            </a:pPr>
            <a:r>
              <a:rPr sz="1500" b="0" i="0">
                <a:solidFill>
                  <a:srgbClr val="E6F3FA"/>
                </a:solidFill>
                <a:latin typeface="Arial"/>
              </a:rPr>
              <a:t>•  Assessment &amp; proctoring in-platform</a:t>
            </a:r>
          </a:p>
          <a:p>
            <a:pPr algn="l">
              <a:lnSpc>
                <a:spcPct val="112000"/>
              </a:lnSpc>
              <a:spcAft>
                <a:spcPts val="1200"/>
              </a:spcAft>
            </a:pPr>
            <a:r>
              <a:rPr sz="1500" b="0" i="0">
                <a:solidFill>
                  <a:srgbClr val="E6F3FA"/>
                </a:solidFill>
                <a:latin typeface="Arial"/>
              </a:rPr>
              <a:t>•  Interview, Coding &amp; Whiteboard, scored</a:t>
            </a:r>
          </a:p>
          <a:p>
            <a:pPr algn="l">
              <a:lnSpc>
                <a:spcPct val="112000"/>
              </a:lnSpc>
              <a:spcAft>
                <a:spcPts val="1200"/>
              </a:spcAft>
            </a:pPr>
            <a:r>
              <a:rPr sz="1500" b="0" i="0">
                <a:solidFill>
                  <a:srgbClr val="E6F3FA"/>
                </a:solidFill>
                <a:latin typeface="Arial"/>
              </a:rPr>
              <a:t>•  Offers, joining and reporting</a:t>
            </a:r>
          </a:p>
          <a:p>
            <a:pPr algn="l">
              <a:lnSpc>
                <a:spcPct val="112000"/>
              </a:lnSpc>
              <a:spcAft>
                <a:spcPts val="1600"/>
              </a:spcAft>
            </a:pPr>
            <a:r>
              <a:rPr sz="1500" b="0" i="0">
                <a:solidFill>
                  <a:srgbClr val="E6F3FA"/>
                </a:solidFill>
                <a:latin typeface="Arial"/>
              </a:rPr>
              <a:t>•  Live executive dashboard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1" i="0">
                <a:solidFill>
                  <a:srgbClr val="05ABEF"/>
                </a:solidFill>
                <a:latin typeface="Arial"/>
              </a:rPr>
              <a:t>One candidate record. One source of truth.</a:t>
            </a:r>
          </a:p>
        </p:txBody>
      </p:sp>
      <p:sp>
        <p:nvSpPr>
          <p:cNvPr id="36" name="Compare 36"/>
          <p:cNvSpPr/>
          <p:nvPr/>
        </p:nvSpPr>
        <p:spPr>
          <a:xfrm>
            <a:off x="736600" y="6121400"/>
            <a:ext cx="10718800" cy="381000"/>
          </a:xfrm>
          <a:prstGeom prst="rect">
            <a:avLst/>
          </a:prstGeom>
          <a:noFill/>
          <a:ln>
            <a:noFill/>
          </a:ln>
        </p:spPr>
        <p:txBody>
          <a:bodyPr wrap="square" lIns="152400" tIns="114300" rIns="152400" bIns="114300" anchor="t"/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0" i="0">
                <a:solidFill>
                  <a:srgbClr val="616062"/>
                </a:solidFill>
                <a:latin typeface="Arial"/>
              </a:rPr>
              <a:t>Feedback is captured in the flow of the round — not chased afterwards.</a:t>
            </a:r>
          </a:p>
        </p:txBody>
      </p:sp>
    </p:spTree>
    <p:extLst>
      <p:ext uri="{BB962C8B-B14F-4D97-AF65-F5344CB8AC3E}">
        <p14:creationId xmlns:p14="http://schemas.microsoft.com/office/powerpoint/2010/main" val="30303036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44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05AB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10515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One Hiring Funnel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2743200"/>
            <a:ext cx="1473490" cy="1188720"/>
          </a:xfrm>
          <a:prstGeom prst="roundRect">
            <a:avLst>
              <a:gd name="adj" fmla="val 15000"/>
            </a:avLst>
          </a:prstGeom>
          <a:solidFill>
            <a:srgbClr val="A8D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Applied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2986" y="3127248"/>
            <a:ext cx="21945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616062"/>
                </a:solidFill>
                <a:latin typeface="Arial"/>
              </a:rP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177578" y="2743200"/>
            <a:ext cx="1473490" cy="1188720"/>
          </a:xfrm>
          <a:prstGeom prst="roundRect">
            <a:avLst>
              <a:gd name="adj" fmla="val 15000"/>
            </a:avLst>
          </a:prstGeom>
          <a:solidFill>
            <a:srgbClr val="6FC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Online Test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96204" y="3127248"/>
            <a:ext cx="21945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616062"/>
                </a:solidFill>
                <a:latin typeface="Arial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760796" y="2743200"/>
            <a:ext cx="1473490" cy="1188720"/>
          </a:xfrm>
          <a:prstGeom prst="roundRect">
            <a:avLst>
              <a:gd name="adj" fmla="val 15000"/>
            </a:avLst>
          </a:prstGeom>
          <a:solidFill>
            <a:srgbClr val="05AB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Interview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79422" y="3127248"/>
            <a:ext cx="21945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616062"/>
                </a:solidFill>
                <a:latin typeface="Arial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44014" y="2743200"/>
            <a:ext cx="1473490" cy="1188720"/>
          </a:xfrm>
          <a:prstGeom prst="roundRect">
            <a:avLst>
              <a:gd name="adj" fmla="val 15000"/>
            </a:avLst>
          </a:prstGeom>
          <a:solidFill>
            <a:srgbClr val="0091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Coding</a:t>
            </a:r>
            <a:br/>
            <a:r>
              <a:rPr sz="1300" b="1">
                <a:solidFill>
                  <a:srgbClr val="FFFFFF"/>
                </a:solidFill>
              </a:rPr>
              <a:t>Exercise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2640" y="3127248"/>
            <a:ext cx="21945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616062"/>
                </a:solidFill>
                <a:latin typeface="Arial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927232" y="2743200"/>
            <a:ext cx="1473490" cy="1188720"/>
          </a:xfrm>
          <a:prstGeom prst="roundRect">
            <a:avLst>
              <a:gd name="adj" fmla="val 15000"/>
            </a:avLst>
          </a:prstGeom>
          <a:solidFill>
            <a:srgbClr val="0080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Whiteboard</a:t>
            </a:r>
            <a:br/>
            <a:r>
              <a:rPr sz="1300" b="1">
                <a:solidFill>
                  <a:srgbClr val="FFFFFF"/>
                </a:solidFill>
              </a:rPr>
              <a:t>Interview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45858" y="3127248"/>
            <a:ext cx="21945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616062"/>
                </a:solidFill>
                <a:latin typeface="Arial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510450" y="2743200"/>
            <a:ext cx="1473490" cy="1188720"/>
          </a:xfrm>
          <a:prstGeom prst="roundRect">
            <a:avLst>
              <a:gd name="adj" fmla="val 15000"/>
            </a:avLst>
          </a:prstGeom>
          <a:solidFill>
            <a:srgbClr val="006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Offered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29076" y="3127248"/>
            <a:ext cx="21945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616062"/>
                </a:solidFill>
                <a:latin typeface="Arial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093668" y="2743200"/>
            <a:ext cx="1473490" cy="1188720"/>
          </a:xfrm>
          <a:prstGeom prst="roundRect">
            <a:avLst>
              <a:gd name="adj" fmla="val 15000"/>
            </a:avLst>
          </a:prstGeom>
          <a:solidFill>
            <a:srgbClr val="0044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Joined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480560"/>
            <a:ext cx="10515600" cy="6682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616062"/>
                </a:solidFill>
                <a:latin typeface="Arial"/>
              </a:rPr>
              <a:t>Each candidate carries one live stage in one system — not a column somebody has to</a:t>
            </a:r>
          </a:p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616062"/>
                </a:solidFill>
                <a:latin typeface="Arial"/>
              </a:rPr>
              <a:t>remember to update. The Dashboard's funnel is computed straight from that record.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16062"/>
                </a:solidFill>
                <a:latin typeface="Arial"/>
              </a:rPr>
              <a:t>Presidio Talent Hub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89920" y="6519672"/>
            <a:ext cx="9144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16062"/>
                </a:solidFill>
                <a:latin typeface="Arial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26620851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44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05AB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5ABEF"/>
                </a:solidFill>
                <a:latin typeface="Arial"/>
              </a:rPr>
              <a:t>ONE LOGIN, FIVE ROLES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0515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Who Uses It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463040"/>
            <a:ext cx="2084831" cy="4572000"/>
          </a:xfrm>
          <a:prstGeom prst="roundRect">
            <a:avLst>
              <a:gd name="adj" fmla="val 6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1691640"/>
            <a:ext cx="1810511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447A"/>
                </a:solidFill>
                <a:latin typeface="Arial"/>
              </a:rPr>
              <a:t>Super Admin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423160"/>
            <a:ext cx="1810511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0" i="0">
                <a:solidFill>
                  <a:srgbClr val="616062"/>
                </a:solidFill>
                <a:latin typeface="Arial"/>
              </a:rPr>
              <a:t>Full control — every drive, question bank, assessment settings, users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06623" y="1463040"/>
            <a:ext cx="2084831" cy="4572000"/>
          </a:xfrm>
          <a:prstGeom prst="roundRect">
            <a:avLst>
              <a:gd name="adj" fmla="val 6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843783" y="1691640"/>
            <a:ext cx="1810511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447A"/>
                </a:solidFill>
                <a:latin typeface="Arial"/>
              </a:rPr>
              <a:t>SPOC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43783" y="2423160"/>
            <a:ext cx="1810511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0" i="0">
                <a:solidFill>
                  <a:srgbClr val="616062"/>
                </a:solidFill>
                <a:latin typeface="Arial"/>
              </a:rPr>
              <a:t>Owns specific drives; manages Panel/Evaluator, advances candidates, releases offers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956046" y="1463040"/>
            <a:ext cx="2084831" cy="4572000"/>
          </a:xfrm>
          <a:prstGeom prst="roundRect">
            <a:avLst>
              <a:gd name="adj" fmla="val 6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93206" y="1691640"/>
            <a:ext cx="1810511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447A"/>
                </a:solidFill>
                <a:latin typeface="Arial"/>
              </a:rPr>
              <a:t>Panel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93206" y="2423160"/>
            <a:ext cx="1810511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0" i="0">
                <a:solidFill>
                  <a:srgbClr val="616062"/>
                </a:solidFill>
                <a:latin typeface="Arial"/>
              </a:rPr>
              <a:t>Interviewer on a drive; advances Interview &amp; Coding Exercise stages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205469" y="1463040"/>
            <a:ext cx="2084831" cy="4572000"/>
          </a:xfrm>
          <a:prstGeom prst="roundRect">
            <a:avLst>
              <a:gd name="adj" fmla="val 6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342629" y="1691640"/>
            <a:ext cx="1810511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447A"/>
                </a:solidFill>
                <a:latin typeface="Arial"/>
              </a:rPr>
              <a:t>Evaluator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42629" y="2423160"/>
            <a:ext cx="1810511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0" i="0">
                <a:solidFill>
                  <a:srgbClr val="616062"/>
                </a:solidFill>
                <a:latin typeface="Arial"/>
              </a:rPr>
              <a:t>Can create their own drives; scores candidates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454892" y="1463040"/>
            <a:ext cx="2084831" cy="4572000"/>
          </a:xfrm>
          <a:prstGeom prst="roundRect">
            <a:avLst>
              <a:gd name="adj" fmla="val 6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592052" y="1691640"/>
            <a:ext cx="1810511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447A"/>
                </a:solidFill>
                <a:latin typeface="Arial"/>
              </a:rPr>
              <a:t>Candidate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92052" y="2423160"/>
            <a:ext cx="1810511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0" i="0">
                <a:solidFill>
                  <a:srgbClr val="616062"/>
                </a:solidFill>
                <a:latin typeface="Arial"/>
              </a:rPr>
              <a:t>Registers, logs in, takes the assessment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6172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616062"/>
                </a:solidFill>
                <a:latin typeface="Arial"/>
              </a:rPr>
              <a:t>Access is scoped per drive — not global — except for Super Admins.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16062"/>
                </a:solidFill>
                <a:latin typeface="Arial"/>
              </a:rPr>
              <a:t>Presidio Talent Hub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519672"/>
            <a:ext cx="9144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16062"/>
                </a:solidFill>
                <a:latin typeface="Arial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26188377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44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05AB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5ABEF"/>
                </a:solidFill>
                <a:latin typeface="Arial"/>
              </a:rPr>
              <a:t>CORE MODULE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0515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One Place to Run Drives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737360"/>
            <a:ext cx="10058400" cy="2779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2000"/>
              </a:spcAft>
            </a:pPr>
            <a:r>
              <a:rPr sz="1900">
                <a:solidFill>
                  <a:srgbClr val="000000"/>
                </a:solidFill>
                <a:latin typeface="Arial"/>
              </a:rPr>
              <a:t>•  Create a drive per college and role</a:t>
            </a:r>
          </a:p>
          <a:p>
            <a:pPr>
              <a:lnSpc>
                <a:spcPct val="115000"/>
              </a:lnSpc>
              <a:spcAft>
                <a:spcPts val="2000"/>
              </a:spcAft>
            </a:pPr>
            <a:r>
              <a:rPr sz="1900">
                <a:solidFill>
                  <a:srgbClr val="000000"/>
                </a:solidFill>
                <a:latin typeface="Arial"/>
              </a:rPr>
              <a:t>•  Configure test duration &amp; scoring bands</a:t>
            </a:r>
          </a:p>
          <a:p>
            <a:pPr>
              <a:lnSpc>
                <a:spcPct val="115000"/>
              </a:lnSpc>
              <a:spcAft>
                <a:spcPts val="2000"/>
              </a:spcAft>
            </a:pPr>
            <a:r>
              <a:rPr sz="1900">
                <a:solidFill>
                  <a:srgbClr val="000000"/>
                </a:solidFill>
                <a:latin typeface="Arial"/>
              </a:rPr>
              <a:t>•  Bulk-upload college rosters once — the last spreadsheet in the process</a:t>
            </a:r>
          </a:p>
          <a:p>
            <a:pPr>
              <a:lnSpc>
                <a:spcPct val="115000"/>
              </a:lnSpc>
              <a:spcAft>
                <a:spcPts val="2000"/>
              </a:spcAft>
            </a:pPr>
            <a:r>
              <a:rPr sz="1900">
                <a:solidFill>
                  <a:srgbClr val="000000"/>
                </a:solidFill>
                <a:latin typeface="Arial"/>
              </a:rPr>
              <a:t>•  Track registered vs. selected counts</a:t>
            </a:r>
          </a:p>
          <a:p>
            <a:pPr>
              <a:lnSpc>
                <a:spcPct val="115000"/>
              </a:lnSpc>
              <a:spcAft>
                <a:spcPts val="2000"/>
              </a:spcAft>
            </a:pPr>
            <a:r>
              <a:rPr sz="1900">
                <a:solidFill>
                  <a:srgbClr val="000000"/>
                </a:solidFill>
                <a:latin typeface="Arial"/>
              </a:rPr>
              <a:t>•  Per-drive progress at a glance (Online Test → Whiteboard)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16062"/>
                </a:solidFill>
                <a:latin typeface="Arial"/>
              </a:rPr>
              <a:t>Presidio Talent Hub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519672"/>
            <a:ext cx="9144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16062"/>
                </a:solidFill>
                <a:latin typeface="Arial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2874319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44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05AB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5ABEF"/>
                </a:solidFill>
                <a:latin typeface="Arial"/>
              </a:rPr>
              <a:t>CORE MODULE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0515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One Question Bank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737360"/>
            <a:ext cx="10058400" cy="21870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2000"/>
              </a:spcAft>
            </a:pPr>
            <a:r>
              <a:rPr sz="1900">
                <a:solidFill>
                  <a:srgbClr val="000000"/>
                </a:solidFill>
                <a:latin typeface="Arial"/>
              </a:rPr>
              <a:t>•  One shared, reusable pool of assessment questions</a:t>
            </a:r>
          </a:p>
          <a:p>
            <a:pPr>
              <a:lnSpc>
                <a:spcPct val="115000"/>
              </a:lnSpc>
              <a:spcAft>
                <a:spcPts val="2000"/>
              </a:spcAft>
            </a:pPr>
            <a:r>
              <a:rPr sz="1900">
                <a:solidFill>
                  <a:srgbClr val="000000"/>
                </a:solidFill>
                <a:latin typeface="Arial"/>
              </a:rPr>
              <a:t>•  Tagged by topic, type and difficulty</a:t>
            </a:r>
          </a:p>
          <a:p>
            <a:pPr>
              <a:lnSpc>
                <a:spcPct val="115000"/>
              </a:lnSpc>
              <a:spcAft>
                <a:spcPts val="2000"/>
              </a:spcAft>
            </a:pPr>
            <a:r>
              <a:rPr sz="1900">
                <a:solidFill>
                  <a:srgbClr val="000000"/>
                </a:solidFill>
                <a:latin typeface="Arial"/>
              </a:rPr>
              <a:t>•  Every drive's assessment assembled from this pool</a:t>
            </a:r>
          </a:p>
          <a:p>
            <a:pPr>
              <a:lnSpc>
                <a:spcPct val="115000"/>
              </a:lnSpc>
              <a:spcAft>
                <a:spcPts val="2000"/>
              </a:spcAft>
            </a:pPr>
            <a:r>
              <a:rPr sz="1900">
                <a:solidFill>
                  <a:srgbClr val="000000"/>
                </a:solidFill>
                <a:latin typeface="Arial"/>
              </a:rPr>
              <a:t>•  No per-drive question documents to copy, email or version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16062"/>
                </a:solidFill>
                <a:latin typeface="Arial"/>
              </a:rPr>
              <a:t>Presidio Talent Hub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519672"/>
            <a:ext cx="9144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16062"/>
                </a:solidFill>
                <a:latin typeface="Arial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6238876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44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05AB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5ABEF"/>
                </a:solidFill>
                <a:latin typeface="Arial"/>
              </a:rPr>
              <a:t>CORE MODULE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0515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One Candidate Experience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737360"/>
            <a:ext cx="10058400" cy="2625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700"/>
              </a:spcAft>
            </a:pPr>
            <a:r>
              <a:rPr sz="1900">
                <a:solidFill>
                  <a:srgbClr val="000000"/>
                </a:solidFill>
                <a:latin typeface="Arial"/>
              </a:rPr>
              <a:t>•  Delivered in-platform — no external test tool to reconcile</a:t>
            </a:r>
          </a:p>
          <a:p>
            <a:pPr>
              <a:lnSpc>
                <a:spcPct val="115000"/>
              </a:lnSpc>
              <a:spcAft>
                <a:spcPts val="1700"/>
              </a:spcAft>
            </a:pPr>
            <a:r>
              <a:rPr sz="1900">
                <a:solidFill>
                  <a:srgbClr val="000000"/>
                </a:solidFill>
                <a:latin typeface="Arial"/>
              </a:rPr>
              <a:t>•  Passwordless magic-link login for remote invites</a:t>
            </a:r>
          </a:p>
          <a:p>
            <a:pPr>
              <a:lnSpc>
                <a:spcPct val="115000"/>
              </a:lnSpc>
              <a:spcAft>
                <a:spcPts val="1700"/>
              </a:spcAft>
            </a:pPr>
            <a:r>
              <a:rPr sz="1900">
                <a:solidFill>
                  <a:srgbClr val="000000"/>
                </a:solidFill>
                <a:latin typeface="Arial"/>
              </a:rPr>
              <a:t>•  Shared-password login for in-person drives</a:t>
            </a:r>
          </a:p>
          <a:p>
            <a:pPr>
              <a:lnSpc>
                <a:spcPct val="115000"/>
              </a:lnSpc>
              <a:spcAft>
                <a:spcPts val="1700"/>
              </a:spcAft>
            </a:pPr>
            <a:r>
              <a:rPr sz="1900">
                <a:solidFill>
                  <a:srgbClr val="000000"/>
                </a:solidFill>
                <a:latin typeface="Arial"/>
              </a:rPr>
              <a:t>•  Configurable proctoring: fullscreen, tab-switch detection, AI proctoring</a:t>
            </a:r>
          </a:p>
          <a:p>
            <a:pPr>
              <a:lnSpc>
                <a:spcPct val="115000"/>
              </a:lnSpc>
              <a:spcAft>
                <a:spcPts val="1700"/>
              </a:spcAft>
            </a:pPr>
            <a:r>
              <a:rPr sz="1900">
                <a:solidFill>
                  <a:srgbClr val="000000"/>
                </a:solidFill>
                <a:latin typeface="Arial"/>
              </a:rPr>
              <a:t>•  Every violation logged against the candidate record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16062"/>
                </a:solidFill>
                <a:latin typeface="Arial"/>
              </a:rPr>
              <a:t>Presidio Talent Hub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519672"/>
            <a:ext cx="9144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16062"/>
                </a:solidFill>
                <a:latin typeface="Arial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6265859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44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05AB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5ABEF"/>
                </a:solidFill>
                <a:latin typeface="Arial"/>
              </a:rPr>
              <a:t>PIPELINE · ROUNDS · OFFERS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0515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One Evaluation Record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737360"/>
            <a:ext cx="10058400" cy="3564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2300"/>
              </a:spcAft>
            </a:pPr>
            <a:r>
              <a:rPr sz="1900" b="1">
                <a:solidFill>
                  <a:srgbClr val="000000"/>
                </a:solidFill>
                <a:latin typeface="Arial"/>
              </a:rPr>
              <a:t>One candidate view</a:t>
            </a:r>
            <a:r>
              <a:rPr sz="1900" b="0">
                <a:solidFill>
                  <a:srgbClr val="616062"/>
                </a:solidFill>
                <a:latin typeface="Arial"/>
              </a:rPr>
              <a:t>  —  stage, score, interview and offer status per drive</a:t>
            </a:r>
          </a:p>
          <a:p>
            <a:pPr>
              <a:lnSpc>
                <a:spcPct val="115000"/>
              </a:lnSpc>
              <a:spcAft>
                <a:spcPts val="2300"/>
              </a:spcAft>
            </a:pPr>
            <a:r>
              <a:rPr sz="1900" b="1">
                <a:solidFill>
                  <a:srgbClr val="000000"/>
                </a:solidFill>
                <a:latin typeface="Arial"/>
              </a:rPr>
              <a:t>Structured panel scoring</a:t>
            </a:r>
            <a:r>
              <a:rPr sz="1900" b="0">
                <a:solidFill>
                  <a:srgbClr val="616062"/>
                </a:solidFill>
                <a:latin typeface="Arial"/>
              </a:rPr>
              <a:t>  —  aptitude, communication, problem-solving, technical</a:t>
            </a:r>
          </a:p>
          <a:p>
            <a:pPr>
              <a:lnSpc>
                <a:spcPct val="115000"/>
              </a:lnSpc>
              <a:spcAft>
                <a:spcPts val="2300"/>
              </a:spcAft>
            </a:pPr>
            <a:r>
              <a:rPr sz="1900" b="1">
                <a:solidFill>
                  <a:srgbClr val="000000"/>
                </a:solidFill>
                <a:latin typeface="Arial"/>
              </a:rPr>
              <a:t>Comments beside every score</a:t>
            </a:r>
            <a:r>
              <a:rPr sz="1900" b="0">
                <a:solidFill>
                  <a:srgbClr val="616062"/>
                </a:solidFill>
                <a:latin typeface="Arial"/>
              </a:rPr>
              <a:t>  —  the coding round leaves a written trail</a:t>
            </a:r>
          </a:p>
          <a:p>
            <a:pPr>
              <a:lnSpc>
                <a:spcPct val="115000"/>
              </a:lnSpc>
              <a:spcAft>
                <a:spcPts val="2300"/>
              </a:spcAft>
            </a:pPr>
            <a:r>
              <a:rPr sz="1900" b="1">
                <a:solidFill>
                  <a:srgbClr val="000000"/>
                </a:solidFill>
                <a:latin typeface="Arial"/>
              </a:rPr>
              <a:t>Stage-by-stage shortlisting</a:t>
            </a:r>
            <a:r>
              <a:rPr sz="1900" b="0">
                <a:solidFill>
                  <a:srgbClr val="616062"/>
                </a:solidFill>
                <a:latin typeface="Arial"/>
              </a:rPr>
              <a:t>  —  Interview, Coding Exercise, Whiteboard</a:t>
            </a:r>
          </a:p>
          <a:p>
            <a:pPr>
              <a:lnSpc>
                <a:spcPct val="115000"/>
              </a:lnSpc>
              <a:spcAft>
                <a:spcPts val="2300"/>
              </a:spcAft>
            </a:pPr>
            <a:r>
              <a:rPr sz="1900" b="1">
                <a:solidFill>
                  <a:srgbClr val="000000"/>
                </a:solidFill>
                <a:latin typeface="Arial"/>
              </a:rPr>
              <a:t>Offers</a:t>
            </a:r>
            <a:r>
              <a:rPr sz="1900" b="0">
                <a:solidFill>
                  <a:srgbClr val="616062"/>
                </a:solidFill>
                <a:latin typeface="Arial"/>
              </a:rPr>
              <a:t>  —  release and status tracked through to Joined</a:t>
            </a:r>
          </a:p>
          <a:p>
            <a:pPr>
              <a:lnSpc>
                <a:spcPct val="115000"/>
              </a:lnSpc>
              <a:spcAft>
                <a:spcPts val="2300"/>
              </a:spcAft>
            </a:pPr>
            <a:r>
              <a:rPr sz="1900" b="1">
                <a:solidFill>
                  <a:srgbClr val="000000"/>
                </a:solidFill>
                <a:latin typeface="Arial"/>
              </a:rPr>
              <a:t>Reports</a:t>
            </a:r>
            <a:r>
              <a:rPr sz="1900" b="0">
                <a:solidFill>
                  <a:srgbClr val="616062"/>
                </a:solidFill>
                <a:latin typeface="Arial"/>
              </a:rPr>
              <a:t>  —  per-drive drill-down and pooled cross-drive averages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16062"/>
                </a:solidFill>
                <a:latin typeface="Arial"/>
              </a:rPr>
              <a:t>Presidio Talent Hub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519672"/>
            <a:ext cx="9144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16062"/>
                </a:solidFill>
                <a:latin typeface="Arial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42446040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1D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60C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0C6F5"/>
                </a:solidFill>
                <a:latin typeface="Calibri"/>
              </a:rPr>
              <a:t>LIVE, NOT STATIC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0515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One Dashboard, Computed Live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54480"/>
            <a:ext cx="2468880" cy="1371600"/>
          </a:xfrm>
          <a:prstGeom prst="roundRect">
            <a:avLst>
              <a:gd name="adj" fmla="val 6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719072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1FB088"/>
                </a:solidFill>
                <a:latin typeface="Calibri"/>
              </a:rPr>
              <a:t>1,001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42316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5B6370"/>
                </a:solidFill>
                <a:latin typeface="Calibri"/>
              </a:rPr>
              <a:t>Total Candidates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37560" y="1554480"/>
            <a:ext cx="2468880" cy="1371600"/>
          </a:xfrm>
          <a:prstGeom prst="roundRect">
            <a:avLst>
              <a:gd name="adj" fmla="val 6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337560" y="1719072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1FB088"/>
                </a:solidFill>
                <a:latin typeface="Calibri"/>
              </a:rPr>
              <a:t>104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242316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5B6370"/>
                </a:solidFill>
                <a:latin typeface="Calibri"/>
              </a:rPr>
              <a:t>Active Campus Drives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35040" y="1554480"/>
            <a:ext cx="2468880" cy="1371600"/>
          </a:xfrm>
          <a:prstGeom prst="roundRect">
            <a:avLst>
              <a:gd name="adj" fmla="val 6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035040" y="1719072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1FB088"/>
                </a:solidFill>
                <a:latin typeface="Calibri"/>
              </a:rPr>
              <a:t>72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242316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5B6370"/>
                </a:solidFill>
                <a:latin typeface="Calibri"/>
              </a:rPr>
              <a:t>Active Assessments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732520" y="1554480"/>
            <a:ext cx="2468880" cy="1371600"/>
          </a:xfrm>
          <a:prstGeom prst="roundRect">
            <a:avLst>
              <a:gd name="adj" fmla="val 6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732520" y="1719072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1FB088"/>
                </a:solidFill>
                <a:latin typeface="Calibri"/>
              </a:rPr>
              <a:t>55%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32520" y="242316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5B6370"/>
                </a:solidFill>
                <a:latin typeface="Calibri"/>
              </a:rPr>
              <a:t>Joining Rate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3383280"/>
            <a:ext cx="100584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6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•  Hiring Funnel — cumulative conversion across every stage</a:t>
            </a:r>
          </a:p>
          <a:p>
            <a:pPr>
              <a:lnSpc>
                <a:spcPct val="115000"/>
              </a:lnSpc>
              <a:spcAft>
                <a:spcPts val="16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•  Registered vs. Selected — per-college comparison</a:t>
            </a:r>
          </a:p>
          <a:p>
            <a:pPr>
              <a:lnSpc>
                <a:spcPct val="115000"/>
              </a:lnSpc>
              <a:spcAft>
                <a:spcPts val="16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•  Score distribution &amp; Gender / Degree breakdowns</a:t>
            </a:r>
          </a:p>
          <a:p>
            <a:pPr>
              <a:lnSpc>
                <a:spcPct val="115000"/>
              </a:lnSpc>
              <a:spcAft>
                <a:spcPts val="16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•  Filterable by year and college, computed live from the database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B6370"/>
                </a:solidFill>
                <a:latin typeface="Calibri"/>
              </a:rPr>
              <a:t>Presidio Talent Hub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89920" y="651967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B6370"/>
                </a:solidFill>
                <a:latin typeface="Calibri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536260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1D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60C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0C6F5"/>
                </a:solidFill>
                <a:latin typeface="Calibri"/>
              </a:rPr>
              <a:t>PERMISSION MATRIX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Roles &amp; Access Control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463040"/>
          <a:ext cx="1106424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46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0579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Action</a:t>
                      </a:r>
                    </a:p>
                  </a:txBody>
                  <a:tcPr>
                    <a:solidFill>
                      <a:srgbClr val="0A1D7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Super</a:t>
                      </a:r>
                    </a:p>
                    <a:p>
                      <a:r>
                        <a:t>Admin</a:t>
                      </a:r>
                    </a:p>
                  </a:txBody>
                  <a:tcPr>
                    <a:solidFill>
                      <a:srgbClr val="0A1D7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SPOC</a:t>
                      </a:r>
                    </a:p>
                  </a:txBody>
                  <a:tcPr>
                    <a:solidFill>
                      <a:srgbClr val="0A1D7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Panel</a:t>
                      </a:r>
                    </a:p>
                  </a:txBody>
                  <a:tcPr>
                    <a:solidFill>
                      <a:srgbClr val="0A1D7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Evaluator</a:t>
                      </a:r>
                    </a:p>
                  </a:txBody>
                  <a:tcPr>
                    <a:solidFill>
                      <a:srgbClr val="0A1D7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579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937"/>
                          </a:solidFill>
                        </a:rPr>
                        <a:t>Edit drive config / scoring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FB088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7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7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7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579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937"/>
                          </a:solidFill>
                        </a:rPr>
                        <a:t>Create a new drive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FB088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7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7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FB088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579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937"/>
                          </a:solidFill>
                        </a:rPr>
                        <a:t>Manage Panel/Evaluator membership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FB088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FB088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7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7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579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937"/>
                          </a:solidFill>
                        </a:rPr>
                        <a:t>Advance candidate — Interview/Coding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FB088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FB088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FB088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7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579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937"/>
                          </a:solidFill>
                        </a:rPr>
                        <a:t>Release offers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FB088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FB088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7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7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579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937"/>
                          </a:solidFill>
                        </a:rPr>
                        <a:t>View unredacted candidate contact info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FB088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FB088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7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FB088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0579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937"/>
                          </a:solidFill>
                        </a:rPr>
                        <a:t>Extend candidate exam time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FB088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FB088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7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FB088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F2F3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B6370"/>
                </a:solidFill>
                <a:latin typeface="Calibri"/>
              </a:rPr>
              <a:t>Presidio Talent Hub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51967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B6370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1D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60C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0C6F5"/>
                </a:solidFill>
                <a:latin typeface="Calibri"/>
              </a:rPr>
              <a:t>TRUST &amp; INTEGRITY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Security &amp; Data Handling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73736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2200"/>
              </a:spcAft>
            </a:pPr>
            <a:r>
              <a:rPr sz="1800" b="1">
                <a:solidFill>
                  <a:srgbClr val="1F2937"/>
                </a:solidFill>
                <a:latin typeface="Calibri"/>
              </a:rPr>
              <a:t>Passwordless candidate access</a:t>
            </a:r>
            <a:r>
              <a:rPr sz="1800" b="0">
                <a:solidFill>
                  <a:srgbClr val="5B6370"/>
                </a:solidFill>
                <a:latin typeface="Calibri"/>
              </a:rPr>
              <a:t>  —  per-candidate, high-entropy magic-link token embedded in invite emails</a:t>
            </a:r>
          </a:p>
          <a:p>
            <a:pPr>
              <a:lnSpc>
                <a:spcPct val="115000"/>
              </a:lnSpc>
              <a:spcAft>
                <a:spcPts val="2200"/>
              </a:spcAft>
            </a:pPr>
            <a:r>
              <a:rPr sz="1800" b="1">
                <a:solidFill>
                  <a:srgbClr val="1F2937"/>
                </a:solidFill>
                <a:latin typeface="Calibri"/>
              </a:rPr>
              <a:t>Field-level redaction</a:t>
            </a:r>
            <a:r>
              <a:rPr sz="1800" b="0">
                <a:solidFill>
                  <a:srgbClr val="5B6370"/>
                </a:solidFill>
                <a:latin typeface="Calibri"/>
              </a:rPr>
              <a:t>  —  candidate email/phone hidden from viewers without sufficient role/drive access</a:t>
            </a:r>
          </a:p>
          <a:p>
            <a:pPr>
              <a:lnSpc>
                <a:spcPct val="115000"/>
              </a:lnSpc>
              <a:spcAft>
                <a:spcPts val="2200"/>
              </a:spcAft>
            </a:pPr>
            <a:r>
              <a:rPr sz="1800" b="1">
                <a:solidFill>
                  <a:srgbClr val="1F2937"/>
                </a:solidFill>
                <a:latin typeface="Calibri"/>
              </a:rPr>
              <a:t>Server-authoritative scoring</a:t>
            </a:r>
            <a:r>
              <a:rPr sz="1800" b="0">
                <a:solidFill>
                  <a:srgbClr val="5B6370"/>
                </a:solidFill>
                <a:latin typeface="Calibri"/>
              </a:rPr>
              <a:t>  —  score &amp; total marks snapshotted server-side at submission, capped at 100%</a:t>
            </a:r>
          </a:p>
          <a:p>
            <a:pPr>
              <a:lnSpc>
                <a:spcPct val="115000"/>
              </a:lnSpc>
              <a:spcAft>
                <a:spcPts val="2200"/>
              </a:spcAft>
            </a:pPr>
            <a:r>
              <a:rPr sz="1800" b="1">
                <a:solidFill>
                  <a:srgbClr val="1F2937"/>
                </a:solidFill>
                <a:latin typeface="Calibri"/>
              </a:rPr>
              <a:t>Per-drive scoped access</a:t>
            </a:r>
            <a:r>
              <a:rPr sz="1800" b="0">
                <a:solidFill>
                  <a:srgbClr val="5B6370"/>
                </a:solidFill>
                <a:latin typeface="Calibri"/>
              </a:rPr>
              <a:t>  —  SPOC/Panel/Evaluator only ever see drives they're assigned 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B6370"/>
                </a:solidFill>
                <a:latin typeface="Calibri"/>
              </a:rPr>
              <a:t>Presidio Talent Hub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51967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B6370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1D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60C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0C6F5"/>
                </a:solidFill>
                <a:latin typeface="Calibri"/>
              </a:rPr>
              <a:t>SYSTEM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Technical Architecture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5840" y="2377440"/>
            <a:ext cx="3108960" cy="1188720"/>
          </a:xfrm>
          <a:prstGeom prst="roundRect">
            <a:avLst>
              <a:gd name="adj" fmla="val 6000"/>
            </a:avLst>
          </a:prstGeom>
          <a:solidFill>
            <a:srgbClr val="0A1D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256032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React 19 + Vite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035808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0C6F5"/>
                </a:solidFill>
                <a:latin typeface="Calibri"/>
              </a:rPr>
              <a:t>Frontend (SPA)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274320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5B6370"/>
                </a:solidFill>
                <a:latin typeface="Calibri"/>
              </a:rPr>
              <a:t>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0" y="2377440"/>
            <a:ext cx="3108960" cy="1188720"/>
          </a:xfrm>
          <a:prstGeom prst="roundRect">
            <a:avLst>
              <a:gd name="adj" fmla="val 6000"/>
            </a:avLst>
          </a:prstGeom>
          <a:solidFill>
            <a:srgbClr val="0A1D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0" y="256032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Express 5 (Node.js / TS)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3035808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0C6F5"/>
                </a:solidFill>
                <a:latin typeface="Calibri"/>
              </a:rPr>
              <a:t>REST API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274320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5B6370"/>
                </a:solidFill>
                <a:latin typeface="Calibri"/>
              </a:rPr>
              <a:t>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52560" y="2377440"/>
            <a:ext cx="3108960" cy="1188720"/>
          </a:xfrm>
          <a:prstGeom prst="roundRect">
            <a:avLst>
              <a:gd name="adj" fmla="val 6000"/>
            </a:avLst>
          </a:prstGeom>
          <a:solidFill>
            <a:srgbClr val="0A1D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052560" y="256032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MongoDB (Mongoose)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0" y="3035808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0C6F5"/>
                </a:solidFill>
                <a:latin typeface="Calibri"/>
              </a:rPr>
              <a:t>Data Layer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023360"/>
            <a:ext cx="10058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Single AppContext holds shared app data (drives, candidates, assessments, questions, users…)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Data hydrated on demand per page/module — not all fetched at login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Zod validation on the API boundary; JWT/MSAL scaffolding for Entra ID SSO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B6370"/>
                </a:solidFill>
                <a:latin typeface="Calibri"/>
              </a:rPr>
              <a:t>Presidio Talent Hub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89920" y="651967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B6370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1D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60C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0C6F5"/>
                </a:solidFill>
                <a:latin typeface="Calibri"/>
              </a:rPr>
              <a:t>WHAT IT'S BUILT WITH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Tech Stack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6304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A1D70"/>
                </a:solidFill>
                <a:latin typeface="Calibri"/>
              </a:rPr>
              <a:t>Frontend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011680"/>
            <a:ext cx="49377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700">
                <a:solidFill>
                  <a:srgbClr val="1F2937"/>
                </a:solidFill>
                <a:latin typeface="Calibri"/>
              </a:rPr>
              <a:t>•  React 19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700">
                <a:solidFill>
                  <a:srgbClr val="1F2937"/>
                </a:solidFill>
                <a:latin typeface="Calibri"/>
              </a:rPr>
              <a:t>•  TypeScript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700">
                <a:solidFill>
                  <a:srgbClr val="1F2937"/>
                </a:solidFill>
                <a:latin typeface="Calibri"/>
              </a:rPr>
              <a:t>•  Vite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700">
                <a:solidFill>
                  <a:srgbClr val="1F2937"/>
                </a:solidFill>
                <a:latin typeface="Calibri"/>
              </a:rPr>
              <a:t>•  React Router v6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700">
                <a:solidFill>
                  <a:srgbClr val="1F2937"/>
                </a:solidFill>
                <a:latin typeface="Calibri"/>
              </a:rPr>
              <a:t>•  Tailwind CSS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700">
                <a:solidFill>
                  <a:srgbClr val="1F2937"/>
                </a:solidFill>
                <a:latin typeface="Calibri"/>
              </a:rPr>
              <a:t>•  Radix UI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700">
                <a:solidFill>
                  <a:srgbClr val="1F2937"/>
                </a:solidFill>
                <a:latin typeface="Calibri"/>
              </a:rPr>
              <a:t>•  Recharts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46304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A1D70"/>
                </a:solidFill>
                <a:latin typeface="Calibri"/>
              </a:rPr>
              <a:t>Backend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2011680"/>
            <a:ext cx="49377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700">
                <a:solidFill>
                  <a:srgbClr val="1F2937"/>
                </a:solidFill>
                <a:latin typeface="Calibri"/>
              </a:rPr>
              <a:t>•  Express 5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700">
                <a:solidFill>
                  <a:srgbClr val="1F2937"/>
                </a:solidFill>
                <a:latin typeface="Calibri"/>
              </a:rPr>
              <a:t>•  Node.js + TypeScript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700">
                <a:solidFill>
                  <a:srgbClr val="1F2937"/>
                </a:solidFill>
                <a:latin typeface="Calibri"/>
              </a:rPr>
              <a:t>•  Mongoose 9 (MongoDB)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700">
                <a:solidFill>
                  <a:srgbClr val="1F2937"/>
                </a:solidFill>
                <a:latin typeface="Calibri"/>
              </a:rPr>
              <a:t>•  Zod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700">
                <a:solidFill>
                  <a:srgbClr val="1F2937"/>
                </a:solidFill>
                <a:latin typeface="Calibri"/>
              </a:rPr>
              <a:t>•  JWT / MSAL (Entra ID scaffolding)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B6370"/>
                </a:solidFill>
                <a:latin typeface="Calibri"/>
              </a:rPr>
              <a:t>Presidio Talent Hub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0" y="651967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B6370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1D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60C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0C6F5"/>
                </a:solidFill>
                <a:latin typeface="Calibri"/>
              </a:rPr>
              <a:t>PERFORMANCE &amp; RELIABILITY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Engineering Highlight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1F2937"/>
                </a:solidFill>
                <a:latin typeface="Calibri"/>
              </a:rPr>
              <a:t>From "fetch everything at login" to on-demand, per-module data loading.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2860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800"/>
              </a:spcAft>
            </a:pPr>
            <a:r>
              <a:rPr sz="1800" b="1">
                <a:solidFill>
                  <a:srgbClr val="1F2937"/>
                </a:solidFill>
                <a:latin typeface="Calibri"/>
              </a:rPr>
              <a:t>Before</a:t>
            </a:r>
            <a:r>
              <a:rPr sz="1800" b="0">
                <a:solidFill>
                  <a:srgbClr val="5B6370"/>
                </a:solidFill>
                <a:latin typeface="Calibri"/>
              </a:rPr>
              <a:t>  —  Every data collection fetched at login, whether the page needed it or not</a:t>
            </a:r>
          </a:p>
          <a:p>
            <a:pPr>
              <a:lnSpc>
                <a:spcPct val="115000"/>
              </a:lnSpc>
              <a:spcAft>
                <a:spcPts val="1800"/>
              </a:spcAft>
            </a:pPr>
            <a:r>
              <a:rPr sz="1800" b="1">
                <a:solidFill>
                  <a:srgbClr val="1F2937"/>
                </a:solidFill>
                <a:latin typeface="Calibri"/>
              </a:rPr>
              <a:t>After</a:t>
            </a:r>
            <a:r>
              <a:rPr sz="1800" b="0">
                <a:solidFill>
                  <a:srgbClr val="5B6370"/>
                </a:solidFill>
                <a:latin typeface="Calibri"/>
              </a:rPr>
              <a:t>  —  Each page loads only what it needs, fetched fresh on every visit, never stale</a:t>
            </a:r>
          </a:p>
          <a:p>
            <a:pPr>
              <a:lnSpc>
                <a:spcPct val="115000"/>
              </a:lnSpc>
              <a:spcAft>
                <a:spcPts val="1800"/>
              </a:spcAft>
            </a:pPr>
            <a:r>
              <a:rPr sz="1800" b="1">
                <a:solidFill>
                  <a:srgbClr val="1F2937"/>
                </a:solidFill>
                <a:latin typeface="Calibri"/>
              </a:rPr>
              <a:t>Consolidated</a:t>
            </a:r>
            <a:r>
              <a:rPr sz="1800" b="0">
                <a:solidFill>
                  <a:srgbClr val="5B6370"/>
                </a:solidFill>
                <a:latin typeface="Calibri"/>
              </a:rPr>
              <a:t>  —  Campus Drive list: 5 API calls → 1.  Executive Dashboard: 3 API calls → 1.</a:t>
            </a:r>
          </a:p>
          <a:p>
            <a:pPr>
              <a:lnSpc>
                <a:spcPct val="115000"/>
              </a:lnSpc>
              <a:spcAft>
                <a:spcPts val="1800"/>
              </a:spcAft>
            </a:pPr>
            <a:r>
              <a:rPr sz="1800" b="1">
                <a:solidFill>
                  <a:srgbClr val="1F2937"/>
                </a:solidFill>
                <a:latin typeface="Calibri"/>
              </a:rPr>
              <a:t>Verified live</a:t>
            </a:r>
            <a:r>
              <a:rPr sz="1800" b="0">
                <a:solidFill>
                  <a:srgbClr val="5B6370"/>
                </a:solidFill>
                <a:latin typeface="Calibri"/>
              </a:rPr>
              <a:t>  —  Every stage confirmed with scripted browser checks of real network traffic — not just a code read-through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B6370"/>
                </a:solidFill>
                <a:latin typeface="Calibri"/>
              </a:rPr>
              <a:t>Presidio Talent Hub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51967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B6370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1D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60C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0C6F5"/>
                </a:solidFill>
                <a:latin typeface="Calibri"/>
              </a:rPr>
              <a:t>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What's Next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73736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2000"/>
              </a:spcAft>
            </a:pPr>
            <a:r>
              <a:rPr sz="1900">
                <a:solidFill>
                  <a:srgbClr val="1F2937"/>
                </a:solidFill>
                <a:latin typeface="Calibri"/>
              </a:rPr>
              <a:t>•  Wire the existing MSAL/JWT scaffolding to real Microsoft Entra ID SSO login</a:t>
            </a:r>
          </a:p>
          <a:p>
            <a:pPr>
              <a:lnSpc>
                <a:spcPct val="115000"/>
              </a:lnSpc>
              <a:spcAft>
                <a:spcPts val="2000"/>
              </a:spcAft>
            </a:pPr>
            <a:r>
              <a:rPr sz="1900">
                <a:solidFill>
                  <a:srgbClr val="1F2937"/>
                </a:solidFill>
                <a:latin typeface="Calibri"/>
              </a:rPr>
              <a:t>•  Enforce role-scoped drive visibility server-side (currently frontend-enforced)</a:t>
            </a:r>
          </a:p>
          <a:p>
            <a:pPr>
              <a:lnSpc>
                <a:spcPct val="115000"/>
              </a:lnSpc>
              <a:spcAft>
                <a:spcPts val="2000"/>
              </a:spcAft>
            </a:pPr>
            <a:r>
              <a:rPr sz="1900">
                <a:solidFill>
                  <a:srgbClr val="1F2937"/>
                </a:solidFill>
                <a:latin typeface="Calibri"/>
              </a:rPr>
              <a:t>•  Automated notification digests for pipeline stage changes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B6370"/>
                </a:solidFill>
                <a:latin typeface="Calibri"/>
              </a:rPr>
              <a:t>Presidio Talent Hub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51967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B6370"/>
                </a:solidFill>
                <a:latin typeface="Calibr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D7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3840480"/>
            <a:ext cx="12191695" cy="38100"/>
          </a:xfrm>
          <a:prstGeom prst="rect">
            <a:avLst/>
          </a:prstGeom>
          <a:solidFill>
            <a:srgbClr val="60C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237744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2918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60C6F5"/>
                </a:solidFill>
                <a:latin typeface="Calibri"/>
              </a:rPr>
              <a:t>Questions &amp; 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B6370"/>
                </a:solidFill>
                <a:latin typeface="Calibri"/>
              </a:rPr>
              <a:t>Presidio Talent Hub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1967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B6370"/>
                </a:solidFill>
                <a:latin typeface="Calibri"/>
              </a:rPr>
              <a:t>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 [1785432475304]">
  <a:themeElements>
    <a:clrScheme name="Presidio 2021">
      <a:dk1>
        <a:srgbClr val="000000"/>
      </a:dk1>
      <a:lt1>
        <a:srgbClr val="FFFFFF"/>
      </a:lt1>
      <a:dk2>
        <a:srgbClr val="007EB8"/>
      </a:dk2>
      <a:lt2>
        <a:srgbClr val="EEECE1"/>
      </a:lt2>
      <a:accent1>
        <a:srgbClr val="0080BA"/>
      </a:accent1>
      <a:accent2>
        <a:srgbClr val="FF9901"/>
      </a:accent2>
      <a:accent3>
        <a:srgbClr val="989998"/>
      </a:accent3>
      <a:accent4>
        <a:srgbClr val="71D24B"/>
      </a:accent4>
      <a:accent5>
        <a:srgbClr val="616062"/>
      </a:accent5>
      <a:accent6>
        <a:srgbClr val="00447A"/>
      </a:accent6>
      <a:hlink>
        <a:srgbClr val="05ABEF"/>
      </a:hlink>
      <a:folHlink>
        <a:srgbClr val="00447A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bg1">
              <a:lumMod val="75000"/>
            </a:schemeClr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dirty="0" err="1" smtClean="0">
            <a:solidFill>
              <a:schemeClr val="accent5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6" id="{3885B619-2A3E-7641-86C1-9E831AC7AA3B}" vid="{D2983277-EBD8-024C-BBBD-B90AA93AD9C1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C58D8C25-D3C7-4643-9995-1B139BAB89F3}">
  <we:reference id="wa200010725" version="1.0.0.1" store="en-US" storeType="OMEX"/>
  <we:alternateReferences>
    <we:reference id="wa200010725" version="1.0.0.1" store="en-US" storeType="OMEX"/>
  </we:alternateReferences>
  <we:properties>
    <we:property name="claude.fileId" value="&quot;e9dc3457-d763-4525-b89e-2eb159a9cb6d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182</TotalTime>
  <Words>1334</Words>
  <Application>Microsoft Macintosh PowerPoint</Application>
  <PresentationFormat>Widescreen</PresentationFormat>
  <Paragraphs>259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 [1785432475304]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Lakshmanan M</cp:lastModifiedBy>
  <cp:revision>3</cp:revision>
  <dcterms:created xsi:type="dcterms:W3CDTF">2013-01-27T09:14:16Z</dcterms:created>
  <dcterms:modified xsi:type="dcterms:W3CDTF">2026-07-30T17:33:40Z</dcterms:modified>
  <cp:category/>
</cp:coreProperties>
</file>